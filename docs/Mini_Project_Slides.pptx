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hau Philomene" charset="1" panose="02000806040000020003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 (20s): we reproduced the four models of the paper and added one new model, RBF SVR. Roadmap: problem, data, method, reproduction, trading, new model, conclusions, demo.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Problem: regress future VW return on lagged supplier returns and macro variables; then trade on forecasts. Paper's claim: Elastic Net best, trading profit up to 3x buy-and-hold. Our two parts: reproduce, then add one model.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Data: author's public replication parquet, Frankfurt closes 2005-2019, 3,809 days. Missing values set to zero as in the paper. Split: 5y train, 1y validation to pick hyperparameters, 1 month test, roll forward monthly -&gt; 109 refits, 2,156 test days. Trading rule: long/short one share, threshold c, no costs.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Elastic Net matches the paper within 0.4 percent at all three horizons. XGBoost and LightGBM within 2.5 percent. Decision Tree is better than the paper by 3-14 percent - likely because our reduced grid offers only sqrt/log2 max_features and depth &lt;= 20, i.e. more regularised trees; we did not test it. Timings not comparable: one CPU, smaller grids, different tuning schedule. Paper metric = mean of monthly RMSEs; pooled RMSE also in the repo.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ported the author's simulator. Fed with his saved predictions it matches all 96 cells of Table 2 exactly (profit and trades). BUT his code sorts predictions within each month with an unstable sort, so published profits depend on arbitrary ordering. Headline cell Elastic Net h=20 c=0: paper +21.5, author's predictions chronological +20.0, ours chronological +15.3, buy-and-hold about 8. So about 1.9-2.5x, not 3x, but h=20 is robust; h=1 and h=5 flip sign (EN h=1: +20.6 ours vs -9.1 paper) so treat as noise. No transaction costs.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Why SVR: not used or mentioned in the paper; small high-dimensional data suits kernel methods; different inductive bias from linear (EN) and tree models. Standardise inputs on the training window. Grid C in {0.1,1,10}, epsilon {0.001,0.01}, retuned every 6 months. C=0.1 was chosen in about 95 percent of windows, i.e. strong regularisation. Result: worse than EN at every h (+5, +4, +3 percent) but second at h=20, beating DT, XGB, LGBM.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Left: RMSE vs horizon, ours solid and paper dashed - curves nearly overlap for EN, XGB, LGBM. Right: trading profit at threshold 0 using our predictions in chronological order, dashed line is buy and hold. Only h=20 shows a consistent edge for the best models.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Likely Q&amp;A: Why not shuffle? Time series - sequential split avoids look-ahead. Why zero-fill? Paper's choice; biases effects toward zero. Why SVR C=0.1? Validation picked strongest regularisation - signal weak. Why is DT better than paper? Our smaller grid; untested. Can you trust the profit? Only h=20; costs ignored. Why only h=1,5,20? Poster horizons; compute-limited; code accepts other horizons.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Demo: open mini_project.ipynb, show section 3 (Quick demo: all five models on one rolling window, about 1 min, noisy because only 19 test days), then the section 4 and 5 tables and figures. Repo: one notebook + data + saved results + README.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1856072"/>
            <a:ext cx="16093440" cy="3077158"/>
            <a:chOff x="0" y="0"/>
            <a:chExt cx="21457920" cy="41028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4102877"/>
            </a:xfrm>
            <a:custGeom>
              <a:avLst/>
              <a:gdLst/>
              <a:ahLst/>
              <a:cxnLst/>
              <a:rect r="r" b="b" t="t" l="l"/>
              <a:pathLst>
                <a:path h="4102877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4102877"/>
                  </a:lnTo>
                  <a:lnTo>
                    <a:pt x="0" y="41028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161" r="0" b="-286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457920" cy="41028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59"/>
                </a:lnSpc>
              </a:pPr>
              <a:r>
                <a:rPr lang="en-US" sz="8799" spc="263">
                  <a:solidFill>
                    <a:srgbClr val="8E572A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QUANTITATIVE TRADING WITH MACHINE LEARNING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4933230"/>
            <a:ext cx="16093440" cy="1097280"/>
            <a:chOff x="0" y="0"/>
            <a:chExt cx="2145792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45792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39"/>
                </a:lnSpc>
              </a:pPr>
              <a:r>
                <a:rPr lang="en-US" sz="5199" spc="155">
                  <a:solidFill>
                    <a:srgbClr val="A46C35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REPRODUCTION &amp; EXTENSION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6698039"/>
            <a:ext cx="16093440" cy="795452"/>
            <a:chOff x="0" y="0"/>
            <a:chExt cx="21457920" cy="10606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7920" cy="1060603"/>
            </a:xfrm>
            <a:custGeom>
              <a:avLst/>
              <a:gdLst/>
              <a:ahLst/>
              <a:cxnLst/>
              <a:rect r="r" b="b" t="t" l="l"/>
              <a:pathLst>
                <a:path h="1060603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060603"/>
                  </a:lnTo>
                  <a:lnTo>
                    <a:pt x="0" y="1060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236" r="0" b="-34019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457920" cy="1089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4A3222"/>
                  </a:solidFill>
                  <a:latin typeface="Poppins"/>
                  <a:ea typeface="Poppins"/>
                  <a:cs typeface="Poppins"/>
                  <a:sym typeface="Poppins"/>
                </a:rPr>
                <a:t>Predicting VW stock returns from its supply chain  -  Glawion (Stanford CS229)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9258300"/>
            <a:ext cx="16093440" cy="640080"/>
            <a:chOff x="0" y="0"/>
            <a:chExt cx="2145792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4579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A3222"/>
                  </a:solidFill>
                  <a:latin typeface="Poppins"/>
                  <a:ea typeface="Poppins"/>
                  <a:cs typeface="Poppins"/>
                  <a:sym typeface="Poppins"/>
                </a:rPr>
                <a:t>UE24CS352A Machine Learning  |  Team: Zia Kadijah (PES2UG24CS620), Harshavardhan (PES2UG25CS817)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spc="168">
                  <a:solidFill>
                    <a:srgbClr val="8E572A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THE TASK: FORECAST VW FROM ITS SUPPLIERS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10972800" cy="457200"/>
            <a:chOff x="0" y="0"/>
            <a:chExt cx="146304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46304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E572A"/>
                  </a:solidFill>
                  <a:latin typeface="Poppins"/>
                  <a:ea typeface="Poppins"/>
                  <a:cs typeface="Poppins"/>
                  <a:sym typeface="Poppins"/>
                </a:rPr>
                <a:t>UE24CS352A Machine Learning  |  Mini-Project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2185035"/>
            <a:ext cx="9144000" cy="503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8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REFERENCE: GLAWION, QUANTITATIVE TRADING WITH MACHINE LEARNING (STANFORD CS229)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spc="8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QUESTION: DO SUPPLY-CHAIN STOCK RETURNS PREDICT VW'S H-DAY RETURN, AND CAN IT BE TRADED?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spc="8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PART 1: REPRODUCE ELASTIC NET, DECISION TREE, XGBOOST, LIGHTGBM (RMSE + TRADING PROFIT)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spc="8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PART 2: ADD RBF SUPPORT VECTOR REGRESSION, SAME DATA / SPLIT / METRICS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53750" y="2175510"/>
            <a:ext cx="6438900" cy="2049780"/>
            <a:chOff x="0" y="0"/>
            <a:chExt cx="8585200" cy="273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85200" cy="2733040"/>
            </a:xfrm>
            <a:custGeom>
              <a:avLst/>
              <a:gdLst/>
              <a:ahLst/>
              <a:cxnLst/>
              <a:rect r="r" b="b" t="t" l="l"/>
              <a:pathLst>
                <a:path h="2733040" w="8585200">
                  <a:moveTo>
                    <a:pt x="0" y="248412"/>
                  </a:moveTo>
                  <a:cubicBezTo>
                    <a:pt x="0" y="111252"/>
                    <a:pt x="111252" y="0"/>
                    <a:pt x="248412" y="0"/>
                  </a:cubicBezTo>
                  <a:lnTo>
                    <a:pt x="8336788" y="0"/>
                  </a:lnTo>
                  <a:cubicBezTo>
                    <a:pt x="8473948" y="0"/>
                    <a:pt x="8585200" y="111252"/>
                    <a:pt x="8585200" y="248412"/>
                  </a:cubicBezTo>
                  <a:lnTo>
                    <a:pt x="8585200" y="2484628"/>
                  </a:lnTo>
                  <a:cubicBezTo>
                    <a:pt x="8585200" y="2621788"/>
                    <a:pt x="8473948" y="2733040"/>
                    <a:pt x="8336788" y="2733040"/>
                  </a:cubicBezTo>
                  <a:lnTo>
                    <a:pt x="248412" y="2733040"/>
                  </a:lnTo>
                  <a:cubicBezTo>
                    <a:pt x="111252" y="2733040"/>
                    <a:pt x="0" y="2621788"/>
                    <a:pt x="0" y="2484628"/>
                  </a:cubicBezTo>
                  <a:close/>
                </a:path>
              </a:pathLst>
            </a:custGeom>
            <a:solidFill>
              <a:srgbClr val="82A5C0"/>
            </a:solidFill>
            <a:ln w="38100" cap="sq">
              <a:solidFill>
                <a:srgbClr val="FCA311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155680" y="2286000"/>
            <a:ext cx="2377440" cy="1828800"/>
            <a:chOff x="0" y="0"/>
            <a:chExt cx="3169920" cy="243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99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695" t="0" r="-48695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69920" cy="243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spc="215">
                  <a:solidFill>
                    <a:srgbClr val="8E572A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31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533120" y="2286000"/>
            <a:ext cx="3657600" cy="1828800"/>
            <a:chOff x="0" y="0"/>
            <a:chExt cx="4876800" cy="243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6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876800" cy="2457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A3222"/>
                  </a:solidFill>
                  <a:latin typeface="Poppins"/>
                  <a:ea typeface="Poppins"/>
                  <a:cs typeface="Poppins"/>
                  <a:sym typeface="Poppins"/>
                </a:rPr>
                <a:t>stocks (VW + 30 suppliers)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53750" y="4552950"/>
            <a:ext cx="6438900" cy="2049780"/>
            <a:chOff x="0" y="0"/>
            <a:chExt cx="8585200" cy="273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85200" cy="2733040"/>
            </a:xfrm>
            <a:custGeom>
              <a:avLst/>
              <a:gdLst/>
              <a:ahLst/>
              <a:cxnLst/>
              <a:rect r="r" b="b" t="t" l="l"/>
              <a:pathLst>
                <a:path h="2733040" w="8585200">
                  <a:moveTo>
                    <a:pt x="0" y="248412"/>
                  </a:moveTo>
                  <a:cubicBezTo>
                    <a:pt x="0" y="111252"/>
                    <a:pt x="111252" y="0"/>
                    <a:pt x="248412" y="0"/>
                  </a:cubicBezTo>
                  <a:lnTo>
                    <a:pt x="8336788" y="0"/>
                  </a:lnTo>
                  <a:cubicBezTo>
                    <a:pt x="8473948" y="0"/>
                    <a:pt x="8585200" y="111252"/>
                    <a:pt x="8585200" y="248412"/>
                  </a:cubicBezTo>
                  <a:lnTo>
                    <a:pt x="8585200" y="2484628"/>
                  </a:lnTo>
                  <a:cubicBezTo>
                    <a:pt x="8585200" y="2621788"/>
                    <a:pt x="8473948" y="2733040"/>
                    <a:pt x="8336788" y="2733040"/>
                  </a:cubicBezTo>
                  <a:lnTo>
                    <a:pt x="248412" y="2733040"/>
                  </a:lnTo>
                  <a:cubicBezTo>
                    <a:pt x="111252" y="2733040"/>
                    <a:pt x="0" y="2621788"/>
                    <a:pt x="0" y="2484628"/>
                  </a:cubicBezTo>
                  <a:close/>
                </a:path>
              </a:pathLst>
            </a:custGeom>
            <a:solidFill>
              <a:srgbClr val="82A5C0"/>
            </a:solidFill>
            <a:ln w="38100" cap="sq">
              <a:solidFill>
                <a:srgbClr val="FCA311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155680" y="4663440"/>
            <a:ext cx="2377440" cy="1828800"/>
            <a:chOff x="0" y="0"/>
            <a:chExt cx="3169920" cy="2438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699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695" t="0" r="-48695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3169920" cy="243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spc="215">
                  <a:solidFill>
                    <a:srgbClr val="8E572A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850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533120" y="4663440"/>
            <a:ext cx="3657600" cy="1828800"/>
            <a:chOff x="0" y="0"/>
            <a:chExt cx="4876800" cy="243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76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876800" cy="2457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A3222"/>
                  </a:solidFill>
                  <a:latin typeface="Poppins"/>
                  <a:ea typeface="Poppins"/>
                  <a:cs typeface="Poppins"/>
                  <a:sym typeface="Poppins"/>
                </a:rPr>
                <a:t>features (27 lags x 31 + 13 macro)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53750" y="6930390"/>
            <a:ext cx="6438900" cy="2049780"/>
            <a:chOff x="0" y="0"/>
            <a:chExt cx="8585200" cy="273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85200" cy="2733040"/>
            </a:xfrm>
            <a:custGeom>
              <a:avLst/>
              <a:gdLst/>
              <a:ahLst/>
              <a:cxnLst/>
              <a:rect r="r" b="b" t="t" l="l"/>
              <a:pathLst>
                <a:path h="2733040" w="8585200">
                  <a:moveTo>
                    <a:pt x="0" y="248412"/>
                  </a:moveTo>
                  <a:cubicBezTo>
                    <a:pt x="0" y="111252"/>
                    <a:pt x="111252" y="0"/>
                    <a:pt x="248412" y="0"/>
                  </a:cubicBezTo>
                  <a:lnTo>
                    <a:pt x="8336788" y="0"/>
                  </a:lnTo>
                  <a:cubicBezTo>
                    <a:pt x="8473948" y="0"/>
                    <a:pt x="8585200" y="111252"/>
                    <a:pt x="8585200" y="248412"/>
                  </a:cubicBezTo>
                  <a:lnTo>
                    <a:pt x="8585200" y="2484628"/>
                  </a:lnTo>
                  <a:cubicBezTo>
                    <a:pt x="8585200" y="2621788"/>
                    <a:pt x="8473948" y="2733040"/>
                    <a:pt x="8336788" y="2733040"/>
                  </a:cubicBezTo>
                  <a:lnTo>
                    <a:pt x="248412" y="2733040"/>
                  </a:lnTo>
                  <a:cubicBezTo>
                    <a:pt x="111252" y="2733040"/>
                    <a:pt x="0" y="2621788"/>
                    <a:pt x="0" y="2484628"/>
                  </a:cubicBezTo>
                  <a:close/>
                </a:path>
              </a:pathLst>
            </a:custGeom>
            <a:solidFill>
              <a:srgbClr val="82A5C0"/>
            </a:solidFill>
            <a:ln w="38100" cap="sq">
              <a:solidFill>
                <a:srgbClr val="FCA311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155680" y="7040880"/>
            <a:ext cx="2377440" cy="1828800"/>
            <a:chOff x="0" y="0"/>
            <a:chExt cx="3169920" cy="2438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699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695" t="0" r="-48695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169920" cy="243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spc="215">
                  <a:solidFill>
                    <a:srgbClr val="8E572A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109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533120" y="7040880"/>
            <a:ext cx="3657600" cy="1828800"/>
            <a:chOff x="0" y="0"/>
            <a:chExt cx="4876800" cy="2438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76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876800" cy="2457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A3222"/>
                  </a:solidFill>
                  <a:latin typeface="Poppins"/>
                  <a:ea typeface="Poppins"/>
                  <a:cs typeface="Poppins"/>
                  <a:sym typeface="Poppins"/>
                </a:rPr>
                <a:t>monthly rolling refits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spc="168">
                  <a:solidFill>
                    <a:srgbClr val="8E572A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DATA AND VALIDATION: ROLLING, NEVER SHUFFLED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10972800" cy="457200"/>
            <a:chOff x="0" y="0"/>
            <a:chExt cx="146304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46304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E572A"/>
                  </a:solidFill>
                  <a:latin typeface="Poppins"/>
                  <a:ea typeface="Poppins"/>
                  <a:cs typeface="Poppins"/>
                  <a:sym typeface="Poppins"/>
                </a:rPr>
                <a:t>UE24CS352A Machine Learning  |  Mini-Project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4583" y="2364743"/>
            <a:ext cx="6609083" cy="939803"/>
            <a:chOff x="0" y="0"/>
            <a:chExt cx="8812111" cy="1253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12149" cy="1253109"/>
            </a:xfrm>
            <a:custGeom>
              <a:avLst/>
              <a:gdLst/>
              <a:ahLst/>
              <a:cxnLst/>
              <a:rect r="r" b="b" t="t" l="l"/>
              <a:pathLst>
                <a:path h="1253109" w="8812149">
                  <a:moveTo>
                    <a:pt x="0" y="0"/>
                  </a:moveTo>
                  <a:lnTo>
                    <a:pt x="8812149" y="0"/>
                  </a:lnTo>
                  <a:lnTo>
                    <a:pt x="881214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82A5C0"/>
            </a:solidFill>
            <a:ln w="25400" cap="sq">
              <a:solidFill>
                <a:srgbClr val="8C151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2377440"/>
            <a:ext cx="6583680" cy="914400"/>
            <a:chOff x="0" y="0"/>
            <a:chExt cx="877824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78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77824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spc="72">
                  <a:solidFill>
                    <a:srgbClr val="8E572A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TRAIN: 5 YRS (GROWS MONTHLY)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68263" y="2364743"/>
            <a:ext cx="2951483" cy="939803"/>
            <a:chOff x="0" y="0"/>
            <a:chExt cx="3935311" cy="12530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35349" cy="1253109"/>
            </a:xfrm>
            <a:custGeom>
              <a:avLst/>
              <a:gdLst/>
              <a:ahLst/>
              <a:cxnLst/>
              <a:rect r="r" b="b" t="t" l="l"/>
              <a:pathLst>
                <a:path h="1253109" w="3935349">
                  <a:moveTo>
                    <a:pt x="0" y="0"/>
                  </a:moveTo>
                  <a:lnTo>
                    <a:pt x="3935349" y="0"/>
                  </a:lnTo>
                  <a:lnTo>
                    <a:pt x="393534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E4B69D"/>
            </a:solidFill>
            <a:ln w="25400" cap="sq">
              <a:solidFill>
                <a:srgbClr val="FCA311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680960" y="2377440"/>
            <a:ext cx="2926080" cy="914400"/>
            <a:chOff x="0" y="0"/>
            <a:chExt cx="390144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90144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spc="72">
                  <a:solidFill>
                    <a:srgbClr val="8E572A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VALIDATE: 1 YR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594343" y="2364743"/>
            <a:ext cx="1488443" cy="939803"/>
            <a:chOff x="0" y="0"/>
            <a:chExt cx="1984591" cy="12530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8462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984629">
                  <a:moveTo>
                    <a:pt x="0" y="0"/>
                  </a:moveTo>
                  <a:lnTo>
                    <a:pt x="1984629" y="0"/>
                  </a:lnTo>
                  <a:lnTo>
                    <a:pt x="198462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82A5C0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607040" y="2377440"/>
            <a:ext cx="1463040" cy="914400"/>
            <a:chOff x="0" y="0"/>
            <a:chExt cx="195072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50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95072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8E572A"/>
                  </a:solidFill>
                  <a:latin typeface="Poppins"/>
                  <a:ea typeface="Poppins"/>
                  <a:cs typeface="Poppins"/>
                  <a:sym typeface="Poppins"/>
                </a:rPr>
                <a:t>Test 1m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280" y="3383280"/>
            <a:ext cx="11887200" cy="594208"/>
            <a:chOff x="0" y="0"/>
            <a:chExt cx="15849600" cy="7922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849600" cy="792277"/>
            </a:xfrm>
            <a:custGeom>
              <a:avLst/>
              <a:gdLst/>
              <a:ahLst/>
              <a:cxnLst/>
              <a:rect r="r" b="b" t="t" l="l"/>
              <a:pathLst>
                <a:path h="792277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92277"/>
                  </a:lnTo>
                  <a:lnTo>
                    <a:pt x="0" y="792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3635" r="0" b="-3359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5849600" cy="8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E572A"/>
                  </a:solidFill>
                  <a:latin typeface="Poppins"/>
                  <a:ea typeface="Poppins"/>
                  <a:cs typeface="Poppins"/>
                  <a:sym typeface="Poppins"/>
                </a:rPr>
                <a:t>then roll forward one month, 109 times (Jan 2011 - Dec 2019)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97280" y="4379595"/>
            <a:ext cx="16093440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8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FEATURES: 27 DAILY-RETURN LAGS FOR VW AND 30 SUPPLIERS, PLUS 13 MACRO SERIES (EURIBOR, SWAP, ITRAXX, CPI, BUND, OUTPUT GAP)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spc="8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TARGETS: VW RETURN OVER THE NEXT H = 1, 5, 20 DAYS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spc="8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TUNING: GRID SEARCH ON VALIDATION MSE; METRIC RMSE / MAE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spc="89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TRADING: EUR 1,000; LONG IF FORECAST &gt; C, SHORT IF &lt; C; NO COSTS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spc="168">
                  <a:solidFill>
                    <a:srgbClr val="8E572A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PART 1: PREDICTION ERROR IS REPRODUCED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10972800" cy="457200"/>
            <a:chOff x="0" y="0"/>
            <a:chExt cx="146304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46304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E572A"/>
                  </a:solidFill>
                  <a:latin typeface="Poppins"/>
                  <a:ea typeface="Poppins"/>
                  <a:cs typeface="Poppins"/>
                  <a:sym typeface="Poppins"/>
                </a:rPr>
                <a:t>UE24CS352A Machine Learning  |  Mini-Project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14400" y="2011680"/>
          <a:ext cx="9855200" cy="6273800"/>
        </p:xfrm>
        <a:graphic>
          <a:graphicData uri="http://schemas.openxmlformats.org/drawingml/2006/table">
            <a:tbl>
              <a:tblPr/>
              <a:tblGrid>
                <a:gridCol w="3088196"/>
                <a:gridCol w="925958"/>
                <a:gridCol w="1826891"/>
                <a:gridCol w="1826891"/>
                <a:gridCol w="2187264"/>
              </a:tblGrid>
              <a:tr h="482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spc="65">
                          <a:solidFill>
                            <a:srgbClr val="8E572A"/>
                          </a:solidFill>
                          <a:latin typeface="Chau Philomene"/>
                          <a:ea typeface="Chau Philomene"/>
                          <a:cs typeface="Chau Philomene"/>
                          <a:sym typeface="Chau Philomene"/>
                        </a:rPr>
                        <a:t>MODEL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A46C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A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spc="65">
                          <a:solidFill>
                            <a:srgbClr val="8E572A"/>
                          </a:solidFill>
                          <a:latin typeface="Chau Philomene"/>
                          <a:ea typeface="Chau Philomene"/>
                          <a:cs typeface="Chau Philomene"/>
                          <a:sym typeface="Chau Philomene"/>
                        </a:rPr>
                        <a:t>H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A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spc="65">
                          <a:solidFill>
                            <a:srgbClr val="8E572A"/>
                          </a:solidFill>
                          <a:latin typeface="Chau Philomene"/>
                          <a:ea typeface="Chau Philomene"/>
                          <a:cs typeface="Chau Philomene"/>
                          <a:sym typeface="Chau Philomene"/>
                        </a:rPr>
                        <a:t>PAPER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A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spc="65">
                          <a:solidFill>
                            <a:srgbClr val="8E572A"/>
                          </a:solidFill>
                          <a:latin typeface="Chau Philomene"/>
                          <a:ea typeface="Chau Philomene"/>
                          <a:cs typeface="Chau Philomene"/>
                          <a:sym typeface="Chau Philomene"/>
                        </a:rPr>
                        <a:t>OURS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A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spc="65">
                          <a:solidFill>
                            <a:srgbClr val="8E572A"/>
                          </a:solidFill>
                          <a:latin typeface="Chau Philomene"/>
                          <a:ea typeface="Chau Philomene"/>
                          <a:cs typeface="Chau Philomene"/>
                          <a:sym typeface="Chau Philomene"/>
                        </a:rPr>
                        <a:t>DIFF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A5C0"/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Elastic Net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0.0174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0.0174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+0.1%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Elastic Net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0.0401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0.0401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-0.1%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Elastic Net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0.0751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0.0754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+0.4%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Decision Tree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0.0190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0.0175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-8.0%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Decision Tree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0.0422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0.0407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-3.5%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Decision Tree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0.0952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0.0824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-13.5%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XGBoost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0.0176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0.0179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+1.9%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XGBoost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0.0410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0.0420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+2.5%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XGBoost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0.0850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0.0857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+0.8%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LightGBM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0.0177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0.0179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+0.9%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LightGBM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0.0408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0.0406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-0.6%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LightGBM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0.0815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0.0830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+1.8%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1508743" y="1998983"/>
            <a:ext cx="5877563" cy="2860043"/>
            <a:chOff x="0" y="0"/>
            <a:chExt cx="7836751" cy="38133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36662" cy="3813302"/>
            </a:xfrm>
            <a:custGeom>
              <a:avLst/>
              <a:gdLst/>
              <a:ahLst/>
              <a:cxnLst/>
              <a:rect r="r" b="b" t="t" l="l"/>
              <a:pathLst>
                <a:path h="3813302" w="783666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7590663" y="0"/>
                  </a:lnTo>
                  <a:cubicBezTo>
                    <a:pt x="7726553" y="0"/>
                    <a:pt x="7836662" y="110109"/>
                    <a:pt x="7836662" y="245999"/>
                  </a:cubicBezTo>
                  <a:lnTo>
                    <a:pt x="7836662" y="3567303"/>
                  </a:lnTo>
                  <a:cubicBezTo>
                    <a:pt x="7836662" y="3703193"/>
                    <a:pt x="7726553" y="3813302"/>
                    <a:pt x="759066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B5917C"/>
            </a:solidFill>
            <a:ln w="2540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704320" y="2103120"/>
            <a:ext cx="5486400" cy="2651760"/>
            <a:chOff x="0" y="0"/>
            <a:chExt cx="7315200" cy="3535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13" t="0" r="-1201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7315200" cy="3545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spc="240">
                  <a:solidFill>
                    <a:srgbClr val="F8EDDD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0.4%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spc="78">
                  <a:solidFill>
                    <a:srgbClr val="F8EDDD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MAX GAP, ELASTIC NET VS PAPER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521440" y="5202555"/>
            <a:ext cx="585216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78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ELASTIC NET BEST AT EVERY HORIZON; ERROR GROWS WITH H.</a:t>
            </a:r>
          </a:p>
          <a:p>
            <a:pPr algn="l">
              <a:lnSpc>
                <a:spcPts val="3120"/>
              </a:lnSpc>
            </a:pPr>
            <a:r>
              <a:rPr lang="en-US" sz="2600" spc="78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DECISION TREE GAP IS OUR SMALLER GRID.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956461"/>
            <a:chOff x="0" y="0"/>
            <a:chExt cx="21945600" cy="2608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608614"/>
            </a:xfrm>
            <a:custGeom>
              <a:avLst/>
              <a:gdLst/>
              <a:ahLst/>
              <a:cxnLst/>
              <a:rect r="r" b="b" t="t" l="l"/>
              <a:pathLst>
                <a:path h="26086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08614"/>
                  </a:lnTo>
                  <a:lnTo>
                    <a:pt x="0" y="26086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206" r="0" b="-9663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2618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spc="168">
                  <a:solidFill>
                    <a:srgbClr val="8E572A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TRADING PROFITS: VERIFIED SIMULATOR, FRAGILE RESULT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10972800" cy="457200"/>
            <a:chOff x="0" y="0"/>
            <a:chExt cx="146304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46304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E572A"/>
                  </a:solidFill>
                  <a:latin typeface="Poppins"/>
                  <a:ea typeface="Poppins"/>
                  <a:cs typeface="Poppins"/>
                  <a:sym typeface="Poppins"/>
                </a:rPr>
                <a:t>UE24CS352A Machine Learning  |  Mini-Project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58850" y="2425710"/>
          <a:ext cx="16433800" cy="3175000"/>
        </p:xfrm>
        <a:graphic>
          <a:graphicData uri="http://schemas.openxmlformats.org/drawingml/2006/table">
            <a:tbl>
              <a:tblPr/>
              <a:tblGrid>
                <a:gridCol w="7647262"/>
                <a:gridCol w="2928846"/>
                <a:gridCol w="2928846"/>
                <a:gridCol w="2928846"/>
              </a:tblGrid>
              <a:tr h="635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8EDD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Elastic Net, c = 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A46C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A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8EDD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h=1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A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8EDD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h=5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A5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8EDD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h=20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A5C0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(Table 2)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-9.07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+9.56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+21.49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Author's predictions, chronological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-5.47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+12.80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+19.98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Our predictions, chronological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+20.58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+8.37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+15.28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Buy and hold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+7.8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+7.8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8E5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+8.0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DD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95350" y="6015990"/>
            <a:ext cx="5341620" cy="2415540"/>
            <a:chOff x="0" y="0"/>
            <a:chExt cx="7122160" cy="3220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22160" cy="3220720"/>
            </a:xfrm>
            <a:custGeom>
              <a:avLst/>
              <a:gdLst/>
              <a:ahLst/>
              <a:cxnLst/>
              <a:rect r="r" b="b" t="t" l="l"/>
              <a:pathLst>
                <a:path h="3220720" w="7122160">
                  <a:moveTo>
                    <a:pt x="0" y="247777"/>
                  </a:moveTo>
                  <a:cubicBezTo>
                    <a:pt x="0" y="110871"/>
                    <a:pt x="110871" y="0"/>
                    <a:pt x="247777" y="0"/>
                  </a:cubicBezTo>
                  <a:lnTo>
                    <a:pt x="6874383" y="0"/>
                  </a:lnTo>
                  <a:cubicBezTo>
                    <a:pt x="7011162" y="0"/>
                    <a:pt x="7122160" y="110871"/>
                    <a:pt x="7122160" y="247777"/>
                  </a:cubicBezTo>
                  <a:lnTo>
                    <a:pt x="7122160" y="2972943"/>
                  </a:lnTo>
                  <a:cubicBezTo>
                    <a:pt x="7122160" y="3109722"/>
                    <a:pt x="7011289" y="3220720"/>
                    <a:pt x="6874383" y="3220720"/>
                  </a:cubicBezTo>
                  <a:lnTo>
                    <a:pt x="247777" y="3220720"/>
                  </a:lnTo>
                  <a:cubicBezTo>
                    <a:pt x="110871" y="3220720"/>
                    <a:pt x="0" y="3109849"/>
                    <a:pt x="0" y="2972943"/>
                  </a:cubicBezTo>
                  <a:close/>
                </a:path>
              </a:pathLst>
            </a:custGeom>
            <a:solidFill>
              <a:srgbClr val="E4B69D"/>
            </a:solidFill>
            <a:ln w="38100" cap="sq">
              <a:solidFill>
                <a:srgbClr val="FCA311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88720" y="6217920"/>
            <a:ext cx="475488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spc="83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SIMULATOR VERIFIED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96/96 cells of Table 2 match exactly using the author's own predictions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73190" y="6015990"/>
            <a:ext cx="5341620" cy="2415540"/>
            <a:chOff x="0" y="0"/>
            <a:chExt cx="7122160" cy="3220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22160" cy="3220720"/>
            </a:xfrm>
            <a:custGeom>
              <a:avLst/>
              <a:gdLst/>
              <a:ahLst/>
              <a:cxnLst/>
              <a:rect r="r" b="b" t="t" l="l"/>
              <a:pathLst>
                <a:path h="3220720" w="7122160">
                  <a:moveTo>
                    <a:pt x="0" y="247777"/>
                  </a:moveTo>
                  <a:cubicBezTo>
                    <a:pt x="0" y="110871"/>
                    <a:pt x="110871" y="0"/>
                    <a:pt x="247777" y="0"/>
                  </a:cubicBezTo>
                  <a:lnTo>
                    <a:pt x="6874383" y="0"/>
                  </a:lnTo>
                  <a:cubicBezTo>
                    <a:pt x="7011162" y="0"/>
                    <a:pt x="7122160" y="110871"/>
                    <a:pt x="7122160" y="247777"/>
                  </a:cubicBezTo>
                  <a:lnTo>
                    <a:pt x="7122160" y="2972943"/>
                  </a:lnTo>
                  <a:cubicBezTo>
                    <a:pt x="7122160" y="3109722"/>
                    <a:pt x="7011289" y="3220720"/>
                    <a:pt x="6874383" y="3220720"/>
                  </a:cubicBezTo>
                  <a:lnTo>
                    <a:pt x="247777" y="3220720"/>
                  </a:lnTo>
                  <a:cubicBezTo>
                    <a:pt x="110871" y="3220720"/>
                    <a:pt x="0" y="3109849"/>
                    <a:pt x="0" y="2972943"/>
                  </a:cubicBezTo>
                  <a:close/>
                </a:path>
              </a:pathLst>
            </a:custGeom>
            <a:solidFill>
              <a:srgbClr val="E4B69D"/>
            </a:solidFill>
            <a:ln w="38100" cap="sq">
              <a:solidFill>
                <a:srgbClr val="FCA311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766560" y="6217920"/>
            <a:ext cx="475488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spc="83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ORDERING MATTERS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paper's code orders days inside a month by an unstable sort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51030" y="6015990"/>
            <a:ext cx="5341620" cy="2415540"/>
            <a:chOff x="0" y="0"/>
            <a:chExt cx="7122160" cy="322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22160" cy="3220720"/>
            </a:xfrm>
            <a:custGeom>
              <a:avLst/>
              <a:gdLst/>
              <a:ahLst/>
              <a:cxnLst/>
              <a:rect r="r" b="b" t="t" l="l"/>
              <a:pathLst>
                <a:path h="3220720" w="7122160">
                  <a:moveTo>
                    <a:pt x="0" y="247777"/>
                  </a:moveTo>
                  <a:cubicBezTo>
                    <a:pt x="0" y="110871"/>
                    <a:pt x="110871" y="0"/>
                    <a:pt x="247777" y="0"/>
                  </a:cubicBezTo>
                  <a:lnTo>
                    <a:pt x="6874383" y="0"/>
                  </a:lnTo>
                  <a:cubicBezTo>
                    <a:pt x="7011162" y="0"/>
                    <a:pt x="7122160" y="110871"/>
                    <a:pt x="7122160" y="247777"/>
                  </a:cubicBezTo>
                  <a:lnTo>
                    <a:pt x="7122160" y="2972943"/>
                  </a:lnTo>
                  <a:cubicBezTo>
                    <a:pt x="7122160" y="3109722"/>
                    <a:pt x="7011289" y="3220720"/>
                    <a:pt x="6874383" y="3220720"/>
                  </a:cubicBezTo>
                  <a:lnTo>
                    <a:pt x="247777" y="3220720"/>
                  </a:lnTo>
                  <a:cubicBezTo>
                    <a:pt x="110871" y="3220720"/>
                    <a:pt x="0" y="3109849"/>
                    <a:pt x="0" y="2972943"/>
                  </a:cubicBezTo>
                  <a:close/>
                </a:path>
              </a:pathLst>
            </a:custGeom>
            <a:solidFill>
              <a:srgbClr val="E4B69D"/>
            </a:solidFill>
            <a:ln w="38100" cap="sq">
              <a:solidFill>
                <a:srgbClr val="FCA31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344400" y="6217920"/>
            <a:ext cx="475488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spc="83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ONLY H=20 IS ROBUST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about 1.9-2.5x buy and hold before costs; h=1, 5 flip sign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spc="168">
                  <a:solidFill>
                    <a:srgbClr val="8E572A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PART 2: RBF SUPPORT VECTOR REGRESSION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10972800" cy="457200"/>
            <a:chOff x="0" y="0"/>
            <a:chExt cx="146304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46304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E572A"/>
                  </a:solidFill>
                  <a:latin typeface="Poppins"/>
                  <a:ea typeface="Poppins"/>
                  <a:cs typeface="Poppins"/>
                  <a:sym typeface="Poppins"/>
                </a:rPr>
                <a:t>UE24CS352A Machine Learning  |  Mini-Project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2011680"/>
            <a:ext cx="8412480" cy="461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spc="83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WHY SVR?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Not in the paper - a genuinely new model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Small data (1.3-3k rows), 850 features: kernels fit well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Smooth non-linear regulariser: complements linear (EN) and tree models</a:t>
            </a:r>
          </a:p>
          <a:p>
            <a:pPr algn="l" marL="675639" indent="-337820" lvl="1">
              <a:lnSpc>
                <a:spcPts val="3359"/>
              </a:lnSpc>
            </a:pPr>
            <a:r>
              <a:rPr lang="en-US" sz="2799" spc="83">
                <a:solidFill>
                  <a:srgbClr val="8E572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SETUP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Standardised inputs; grid C, epsilon; tuned on validation year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Same data, 109 windows, same RMSE / trading rule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9875520" y="2103120"/>
          <a:ext cx="7442200" cy="3810000"/>
        </p:xfrm>
        <a:graphic>
          <a:graphicData uri="http://schemas.openxmlformats.org/drawingml/2006/table">
            <a:tbl>
              <a:tblPr/>
              <a:tblGrid>
                <a:gridCol w="2890320"/>
                <a:gridCol w="1457597"/>
                <a:gridCol w="1457597"/>
                <a:gridCol w="1636687"/>
              </a:tblGrid>
              <a:tr h="635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spc="65">
                          <a:solidFill>
                            <a:srgbClr val="4A3222"/>
                          </a:solidFill>
                          <a:latin typeface="Chau Philomene"/>
                          <a:ea typeface="Chau Philomene"/>
                          <a:cs typeface="Chau Philomene"/>
                          <a:sym typeface="Chau Philomene"/>
                        </a:rPr>
                        <a:t>TEST RMSE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82A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spc="65">
                          <a:solidFill>
                            <a:srgbClr val="4A3222"/>
                          </a:solidFill>
                          <a:latin typeface="Chau Philomene"/>
                          <a:ea typeface="Chau Philomene"/>
                          <a:cs typeface="Chau Philomene"/>
                          <a:sym typeface="Chau Philomene"/>
                        </a:rPr>
                        <a:t>H=1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spc="65">
                          <a:solidFill>
                            <a:srgbClr val="4A3222"/>
                          </a:solidFill>
                          <a:latin typeface="Chau Philomene"/>
                          <a:ea typeface="Chau Philomene"/>
                          <a:cs typeface="Chau Philomene"/>
                          <a:sym typeface="Chau Philomene"/>
                        </a:rPr>
                        <a:t>H=5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spc="65">
                          <a:solidFill>
                            <a:srgbClr val="4A3222"/>
                          </a:solidFill>
                          <a:latin typeface="Chau Philomene"/>
                          <a:ea typeface="Chau Philomene"/>
                          <a:cs typeface="Chau Philomene"/>
                          <a:sym typeface="Chau Philomene"/>
                        </a:rPr>
                        <a:t>H=20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Elastic Net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.0174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.0401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.0754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spc="65">
                          <a:solidFill>
                            <a:srgbClr val="4A3222"/>
                          </a:solidFill>
                          <a:latin typeface="Chau Philomene"/>
                          <a:ea typeface="Chau Philomene"/>
                          <a:cs typeface="Chau Philomene"/>
                          <a:sym typeface="Chau Philomene"/>
                        </a:rPr>
                        <a:t>SVR (NEW)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spc="65">
                          <a:solidFill>
                            <a:srgbClr val="4A3222"/>
                          </a:solidFill>
                          <a:latin typeface="Chau Philomene"/>
                          <a:ea typeface="Chau Philomene"/>
                          <a:cs typeface="Chau Philomene"/>
                          <a:sym typeface="Chau Philomene"/>
                        </a:rPr>
                        <a:t>.0183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spc="65">
                          <a:solidFill>
                            <a:srgbClr val="4A3222"/>
                          </a:solidFill>
                          <a:latin typeface="Chau Philomene"/>
                          <a:ea typeface="Chau Philomene"/>
                          <a:cs typeface="Chau Philomene"/>
                          <a:sym typeface="Chau Philomene"/>
                        </a:rPr>
                        <a:t>.0417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spc="65">
                          <a:solidFill>
                            <a:srgbClr val="4A3222"/>
                          </a:solidFill>
                          <a:latin typeface="Chau Philomene"/>
                          <a:ea typeface="Chau Philomene"/>
                          <a:cs typeface="Chau Philomene"/>
                          <a:sym typeface="Chau Philomene"/>
                        </a:rPr>
                        <a:t>.0774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LightGBM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.0179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.0406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.0830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XGBoost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.0179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.0420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.0857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Decision Tree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.0175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.0407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4A322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.0824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69D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9875520" y="6381750"/>
            <a:ext cx="749808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SVR: worse than Elastic Net (+3 to +5%), similar to boosting at h=1, 5, second-best at h=20.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spc="168">
                  <a:solidFill>
                    <a:srgbClr val="8E572A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ALL MODELS, SIDE BY SIDE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10972800" cy="457200"/>
            <a:chOff x="0" y="0"/>
            <a:chExt cx="146304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46304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3222"/>
                  </a:solidFill>
                  <a:latin typeface="Poppins"/>
                  <a:ea typeface="Poppins"/>
                  <a:cs typeface="Poppins"/>
                  <a:sym typeface="Poppins"/>
                </a:rPr>
                <a:t>UE24CS352A Machine Learning  |  Mini-Project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2103120"/>
            <a:ext cx="8412480" cy="4882896"/>
            <a:chOff x="0" y="0"/>
            <a:chExt cx="11216640" cy="6510528"/>
          </a:xfrm>
        </p:grpSpPr>
        <p:sp>
          <p:nvSpPr>
            <p:cNvPr name="Freeform 9" id="9" descr="../figures/rmse_vs_horizon.png"/>
            <p:cNvSpPr/>
            <p:nvPr/>
          </p:nvSpPr>
          <p:spPr>
            <a:xfrm flipH="false" flipV="false" rot="0">
              <a:off x="0" y="0"/>
              <a:ext cx="11216640" cy="6510528"/>
            </a:xfrm>
            <a:custGeom>
              <a:avLst/>
              <a:gdLst/>
              <a:ahLst/>
              <a:cxnLst/>
              <a:rect r="r" b="b" t="t" l="l"/>
              <a:pathLst>
                <a:path h="6510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6510528"/>
                  </a:lnTo>
                  <a:lnTo>
                    <a:pt x="0" y="6510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" r="0" b="-1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0" y="2103120"/>
            <a:ext cx="8412480" cy="4882896"/>
            <a:chOff x="0" y="0"/>
            <a:chExt cx="11216640" cy="6510528"/>
          </a:xfrm>
        </p:grpSpPr>
        <p:sp>
          <p:nvSpPr>
            <p:cNvPr name="Freeform 11" id="11" descr="../figures/profit_c0.png"/>
            <p:cNvSpPr/>
            <p:nvPr/>
          </p:nvSpPr>
          <p:spPr>
            <a:xfrm flipH="false" flipV="false" rot="0">
              <a:off x="0" y="0"/>
              <a:ext cx="11216640" cy="6510528"/>
            </a:xfrm>
            <a:custGeom>
              <a:avLst/>
              <a:gdLst/>
              <a:ahLst/>
              <a:cxnLst/>
              <a:rect r="r" b="b" t="t" l="l"/>
              <a:pathLst>
                <a:path h="6510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6510528"/>
                  </a:lnTo>
                  <a:lnTo>
                    <a:pt x="0" y="6510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" r="0" b="-1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0" y="7286625"/>
            <a:ext cx="1645920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Error grows with horizon for every model, and Elastic Net stays lowest. Profit at h=1 and h=5 is unstable across models; at h=20 several models beat buy and hold.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73152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1457920" cy="1697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spc="191">
                  <a:solidFill>
                    <a:srgbClr val="82A5C0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CONCLUSIONS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339340"/>
            <a:ext cx="16093440" cy="415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Prediction results reproduce: Elastic Net is best at h = 1, 5, 20 (within 0.4%).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New RBF-SVR is competitive, not better: +3 to +5% RMSE vs Elastic Net, second at h = 20.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Trading claims need care: order-dependent code, h=1,5 unstable; only h=20 gives about 2x buy and hold, before costs.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8E572A"/>
                </a:solidFill>
                <a:latin typeface="Poppins"/>
                <a:ea typeface="Poppins"/>
                <a:cs typeface="Poppins"/>
                <a:sym typeface="Poppins"/>
              </a:rPr>
              <a:t>Limitations: reduced grids / tuning schedule, only h = 1, 5, 20, one seed, no costs or risk measures.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03497" y="4172179"/>
            <a:ext cx="9081006" cy="1942641"/>
            <a:chOff x="0" y="0"/>
            <a:chExt cx="12108008" cy="2590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08008" cy="2590188"/>
            </a:xfrm>
            <a:custGeom>
              <a:avLst/>
              <a:gdLst/>
              <a:ahLst/>
              <a:cxnLst/>
              <a:rect r="r" b="b" t="t" l="l"/>
              <a:pathLst>
                <a:path h="2590188" w="12108008">
                  <a:moveTo>
                    <a:pt x="0" y="0"/>
                  </a:moveTo>
                  <a:lnTo>
                    <a:pt x="12108008" y="0"/>
                  </a:lnTo>
                  <a:lnTo>
                    <a:pt x="12108008" y="2590188"/>
                  </a:lnTo>
                  <a:lnTo>
                    <a:pt x="0" y="25901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139" r="-81248" b="-980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2108008" cy="2590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59"/>
                </a:lnSpc>
              </a:pPr>
              <a:r>
                <a:rPr lang="en-US" sz="9799" spc="293">
                  <a:solidFill>
                    <a:srgbClr val="14213D"/>
                  </a:solidFill>
                  <a:latin typeface="Chau Philomene"/>
                  <a:ea typeface="Chau Philomene"/>
                  <a:cs typeface="Chau Philomene"/>
                  <a:sym typeface="Chau Philomene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10972800" cy="457200"/>
            <a:chOff x="0" y="0"/>
            <a:chExt cx="146304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46304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3222"/>
                  </a:solidFill>
                  <a:latin typeface="Poppins"/>
                  <a:ea typeface="Poppins"/>
                  <a:cs typeface="Poppins"/>
                  <a:sym typeface="Poppins"/>
                </a:rPr>
                <a:t>UE24CS352A Machine Learning  |  Mini-Project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DAHXqovjhrg</dc:identifier>
  <dcterms:modified xsi:type="dcterms:W3CDTF">2011-08-01T06:04:30Z</dcterms:modified>
  <cp:revision>1</cp:revision>
  <dc:title>Mini_Project_Slides.pptx</dc:title>
</cp:coreProperties>
</file>